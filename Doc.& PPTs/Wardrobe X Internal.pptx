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grandir Bold" charset="1" panose="00000800000000000000"/>
      <p:regular r:id="rId29"/>
    </p:embeddedFont>
    <p:embeddedFont>
      <p:font typeface="Poppins Bold" charset="1" panose="00000800000000000000"/>
      <p:regular r:id="rId30"/>
    </p:embeddedFont>
    <p:embeddedFont>
      <p:font typeface="Poppins Italics" charset="1" panose="00000500000000000000"/>
      <p:regular r:id="rId31"/>
    </p:embeddedFont>
    <p:embeddedFont>
      <p:font typeface="Poppins" charset="1" panose="00000500000000000000"/>
      <p:regular r:id="rId32"/>
    </p:embeddedFont>
    <p:embeddedFont>
      <p:font typeface="Glacial Indifference Bold" charset="1" panose="00000800000000000000"/>
      <p:regular r:id="rId33"/>
    </p:embeddedFont>
    <p:embeddedFont>
      <p:font typeface="Poppins Medium" charset="1" panose="000006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9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40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41.png" Type="http://schemas.openxmlformats.org/officeDocument/2006/relationships/image"/><Relationship Id="rId7" Target="../embeddings/oleObject3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42.png" Type="http://schemas.openxmlformats.org/officeDocument/2006/relationships/image"/><Relationship Id="rId7" Target="../embeddings/oleObject4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43.png" Type="http://schemas.openxmlformats.org/officeDocument/2006/relationships/image"/><Relationship Id="rId7" Target="../embeddings/oleObject5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44.png" Type="http://schemas.openxmlformats.org/officeDocument/2006/relationships/image"/><Relationship Id="rId5" Target="../embeddings/oleObject6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45.png" Type="http://schemas.openxmlformats.org/officeDocument/2006/relationships/image"/><Relationship Id="rId5" Target="../embeddings/oleObject7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46.png" Type="http://schemas.openxmlformats.org/officeDocument/2006/relationships/image"/><Relationship Id="rId5" Target="../embeddings/oleObject8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47.png" Type="http://schemas.openxmlformats.org/officeDocument/2006/relationships/image"/><Relationship Id="rId5" Target="../embeddings/oleObject9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48.png" Type="http://schemas.openxmlformats.org/officeDocument/2006/relationships/image"/><Relationship Id="rId5" Target="../embeddings/oleObject10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jpeg" Type="http://schemas.openxmlformats.org/officeDocument/2006/relationships/imag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17" Target="../media/image63.png" Type="http://schemas.openxmlformats.org/officeDocument/2006/relationships/image"/><Relationship Id="rId18" Target="../media/image64.svg" Type="http://schemas.openxmlformats.org/officeDocument/2006/relationships/image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4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2792" y="1343309"/>
            <a:ext cx="6398452" cy="4768501"/>
            <a:chOff x="0" y="0"/>
            <a:chExt cx="1164719" cy="86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4719" cy="868016"/>
            </a:xfrm>
            <a:custGeom>
              <a:avLst/>
              <a:gdLst/>
              <a:ahLst/>
              <a:cxnLst/>
              <a:rect r="r" b="b" t="t" l="l"/>
              <a:pathLst>
                <a:path h="868016" w="1164719">
                  <a:moveTo>
                    <a:pt x="48399" y="0"/>
                  </a:moveTo>
                  <a:lnTo>
                    <a:pt x="1116320" y="0"/>
                  </a:lnTo>
                  <a:cubicBezTo>
                    <a:pt x="1143050" y="0"/>
                    <a:pt x="1164719" y="21669"/>
                    <a:pt x="1164719" y="48399"/>
                  </a:cubicBezTo>
                  <a:lnTo>
                    <a:pt x="1164719" y="819618"/>
                  </a:lnTo>
                  <a:cubicBezTo>
                    <a:pt x="1164719" y="832454"/>
                    <a:pt x="1159619" y="844764"/>
                    <a:pt x="1150543" y="853841"/>
                  </a:cubicBezTo>
                  <a:cubicBezTo>
                    <a:pt x="1141466" y="862917"/>
                    <a:pt x="1129156" y="868016"/>
                    <a:pt x="1116320" y="868016"/>
                  </a:cubicBezTo>
                  <a:lnTo>
                    <a:pt x="48399" y="868016"/>
                  </a:lnTo>
                  <a:cubicBezTo>
                    <a:pt x="35563" y="868016"/>
                    <a:pt x="23252" y="862917"/>
                    <a:pt x="14176" y="853841"/>
                  </a:cubicBezTo>
                  <a:cubicBezTo>
                    <a:pt x="5099" y="844764"/>
                    <a:pt x="0" y="832454"/>
                    <a:pt x="0" y="819618"/>
                  </a:cubicBezTo>
                  <a:lnTo>
                    <a:pt x="0" y="48399"/>
                  </a:lnTo>
                  <a:cubicBezTo>
                    <a:pt x="0" y="21669"/>
                    <a:pt x="21669" y="0"/>
                    <a:pt x="48399" y="0"/>
                  </a:cubicBezTo>
                  <a:close/>
                </a:path>
              </a:pathLst>
            </a:custGeom>
            <a:blipFill>
              <a:blip r:embed="rId2"/>
              <a:stretch>
                <a:fillRect l="-5894" t="0" r="-589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12324" y="4901949"/>
            <a:ext cx="5857975" cy="3232346"/>
            <a:chOff x="0" y="0"/>
            <a:chExt cx="1230376" cy="6789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0376" cy="678904"/>
            </a:xfrm>
            <a:custGeom>
              <a:avLst/>
              <a:gdLst/>
              <a:ahLst/>
              <a:cxnLst/>
              <a:rect r="r" b="b" t="t" l="l"/>
              <a:pathLst>
                <a:path h="678904" w="1230376">
                  <a:moveTo>
                    <a:pt x="52864" y="0"/>
                  </a:moveTo>
                  <a:lnTo>
                    <a:pt x="1177512" y="0"/>
                  </a:lnTo>
                  <a:cubicBezTo>
                    <a:pt x="1191533" y="0"/>
                    <a:pt x="1204979" y="5570"/>
                    <a:pt x="1214893" y="15484"/>
                  </a:cubicBezTo>
                  <a:cubicBezTo>
                    <a:pt x="1224807" y="25397"/>
                    <a:pt x="1230376" y="38844"/>
                    <a:pt x="1230376" y="52864"/>
                  </a:cubicBezTo>
                  <a:lnTo>
                    <a:pt x="1230376" y="626040"/>
                  </a:lnTo>
                  <a:cubicBezTo>
                    <a:pt x="1230376" y="640060"/>
                    <a:pt x="1224807" y="653506"/>
                    <a:pt x="1214893" y="663420"/>
                  </a:cubicBezTo>
                  <a:cubicBezTo>
                    <a:pt x="1204979" y="673334"/>
                    <a:pt x="1191533" y="678904"/>
                    <a:pt x="1177512" y="678904"/>
                  </a:cubicBezTo>
                  <a:lnTo>
                    <a:pt x="52864" y="678904"/>
                  </a:lnTo>
                  <a:cubicBezTo>
                    <a:pt x="38844" y="678904"/>
                    <a:pt x="25397" y="673334"/>
                    <a:pt x="15484" y="663420"/>
                  </a:cubicBezTo>
                  <a:cubicBezTo>
                    <a:pt x="5570" y="653506"/>
                    <a:pt x="0" y="640060"/>
                    <a:pt x="0" y="626040"/>
                  </a:cubicBezTo>
                  <a:lnTo>
                    <a:pt x="0" y="52864"/>
                  </a:lnTo>
                  <a:cubicBezTo>
                    <a:pt x="0" y="38844"/>
                    <a:pt x="5570" y="25397"/>
                    <a:pt x="15484" y="15484"/>
                  </a:cubicBezTo>
                  <a:cubicBezTo>
                    <a:pt x="25397" y="5570"/>
                    <a:pt x="38844" y="0"/>
                    <a:pt x="5286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464" r="0" b="-10464"/>
              </a:stretch>
            </a:blipFill>
            <a:ln w="152400" cap="rnd">
              <a:solidFill>
                <a:srgbClr val="5B462C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063627" y="1744796"/>
            <a:ext cx="2840742" cy="2794257"/>
          </a:xfrm>
          <a:custGeom>
            <a:avLst/>
            <a:gdLst/>
            <a:ahLst/>
            <a:cxnLst/>
            <a:rect r="r" b="b" t="t" l="l"/>
            <a:pathLst>
              <a:path h="2794257" w="2840742">
                <a:moveTo>
                  <a:pt x="0" y="0"/>
                </a:moveTo>
                <a:lnTo>
                  <a:pt x="2840741" y="0"/>
                </a:lnTo>
                <a:lnTo>
                  <a:pt x="2840741" y="2794257"/>
                </a:lnTo>
                <a:lnTo>
                  <a:pt x="0" y="2794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16102">
            <a:off x="15477930" y="5587302"/>
            <a:ext cx="1781072" cy="1700114"/>
          </a:xfrm>
          <a:custGeom>
            <a:avLst/>
            <a:gdLst/>
            <a:ahLst/>
            <a:cxnLst/>
            <a:rect r="r" b="b" t="t" l="l"/>
            <a:pathLst>
              <a:path h="1700114" w="1781072">
                <a:moveTo>
                  <a:pt x="0" y="0"/>
                </a:moveTo>
                <a:lnTo>
                  <a:pt x="1781072" y="0"/>
                </a:lnTo>
                <a:lnTo>
                  <a:pt x="1781072" y="1700114"/>
                </a:lnTo>
                <a:lnTo>
                  <a:pt x="0" y="1700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487465">
            <a:off x="6338959" y="8495216"/>
            <a:ext cx="4440276" cy="4454826"/>
          </a:xfrm>
          <a:custGeom>
            <a:avLst/>
            <a:gdLst/>
            <a:ahLst/>
            <a:cxnLst/>
            <a:rect r="r" b="b" t="t" l="l"/>
            <a:pathLst>
              <a:path h="4454826" w="4440276">
                <a:moveTo>
                  <a:pt x="0" y="0"/>
                </a:moveTo>
                <a:lnTo>
                  <a:pt x="4440276" y="0"/>
                </a:lnTo>
                <a:lnTo>
                  <a:pt x="4440276" y="4454827"/>
                </a:lnTo>
                <a:lnTo>
                  <a:pt x="0" y="44548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532489">
            <a:off x="-2155051" y="-1567536"/>
            <a:ext cx="3750155" cy="3055995"/>
          </a:xfrm>
          <a:custGeom>
            <a:avLst/>
            <a:gdLst/>
            <a:ahLst/>
            <a:cxnLst/>
            <a:rect r="r" b="b" t="t" l="l"/>
            <a:pathLst>
              <a:path h="3055995" w="3750155">
                <a:moveTo>
                  <a:pt x="0" y="0"/>
                </a:moveTo>
                <a:lnTo>
                  <a:pt x="3750155" y="0"/>
                </a:lnTo>
                <a:lnTo>
                  <a:pt x="3750155" y="3055995"/>
                </a:lnTo>
                <a:lnTo>
                  <a:pt x="0" y="30559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09404">
            <a:off x="15223460" y="-294984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7"/>
                </a:lnTo>
                <a:lnTo>
                  <a:pt x="0" y="8964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31558">
            <a:off x="-1395542" y="5580986"/>
            <a:ext cx="2390862" cy="2961653"/>
          </a:xfrm>
          <a:custGeom>
            <a:avLst/>
            <a:gdLst/>
            <a:ahLst/>
            <a:cxnLst/>
            <a:rect r="r" b="b" t="t" l="l"/>
            <a:pathLst>
              <a:path h="2961653" w="2390862">
                <a:moveTo>
                  <a:pt x="0" y="0"/>
                </a:moveTo>
                <a:lnTo>
                  <a:pt x="2390862" y="0"/>
                </a:lnTo>
                <a:lnTo>
                  <a:pt x="2390862" y="2961653"/>
                </a:lnTo>
                <a:lnTo>
                  <a:pt x="0" y="29616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37430" y="3651360"/>
            <a:ext cx="6782685" cy="118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2"/>
              </a:lnSpc>
            </a:pPr>
            <a:r>
              <a:rPr lang="en-US" sz="7299" b="true">
                <a:solidFill>
                  <a:srgbClr val="F8F7ED"/>
                </a:solidFill>
                <a:latin typeface="Agrandir Bold"/>
                <a:ea typeface="Agrandir Bold"/>
                <a:cs typeface="Agrandir Bold"/>
                <a:sym typeface="Agrandir Bold"/>
              </a:rPr>
              <a:t>Wardrobe </a:t>
            </a:r>
            <a:r>
              <a:rPr lang="en-US" sz="7299" b="true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grandir Bold"/>
                <a:ea typeface="Agrandir Bold"/>
                <a:cs typeface="Agrandir Bold"/>
                <a:sym typeface="Agrandir Bold"/>
              </a:rPr>
              <a:t>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7430" y="6172564"/>
            <a:ext cx="6912318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8F7ED"/>
                </a:solidFill>
                <a:latin typeface="Poppins Bold"/>
                <a:ea typeface="Poppins Bold"/>
                <a:cs typeface="Poppins Bold"/>
                <a:sym typeface="Poppins Bold"/>
              </a:rPr>
              <a:t>Guide By :  Manish Dodia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7430" y="2998172"/>
            <a:ext cx="4098895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i="true">
                <a:solidFill>
                  <a:srgbClr val="F8F7ED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E-Commerce Website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7430" y="6976088"/>
            <a:ext cx="6912318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8F7ED"/>
                </a:solidFill>
                <a:latin typeface="Poppins Bold"/>
                <a:ea typeface="Poppins Bold"/>
                <a:cs typeface="Poppins Bold"/>
                <a:sym typeface="Poppins Bold"/>
              </a:rPr>
              <a:t>Name : Yash Patel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8F7ED"/>
                </a:solidFill>
                <a:latin typeface="Poppins Bold"/>
                <a:ea typeface="Poppins Bold"/>
                <a:cs typeface="Poppins Bold"/>
                <a:sym typeface="Poppins Bold"/>
              </a:rPr>
              <a:t>M. Sc. [ Computer Application ]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8F7ED"/>
                </a:solidFill>
                <a:latin typeface="Poppins Bold"/>
                <a:ea typeface="Poppins Bold"/>
                <a:cs typeface="Poppins Bold"/>
                <a:sym typeface="Poppins Bold"/>
              </a:rPr>
              <a:t>Roll No. : 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37946" y="582319"/>
            <a:ext cx="6412176" cy="7759885"/>
            <a:chOff x="0" y="0"/>
            <a:chExt cx="974249" cy="1179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4248" cy="1179016"/>
            </a:xfrm>
            <a:custGeom>
              <a:avLst/>
              <a:gdLst/>
              <a:ahLst/>
              <a:cxnLst/>
              <a:rect r="r" b="b" t="t" l="l"/>
              <a:pathLst>
                <a:path h="1179016" w="974248">
                  <a:moveTo>
                    <a:pt x="62784" y="0"/>
                  </a:moveTo>
                  <a:lnTo>
                    <a:pt x="911465" y="0"/>
                  </a:lnTo>
                  <a:cubicBezTo>
                    <a:pt x="928116" y="0"/>
                    <a:pt x="944085" y="6615"/>
                    <a:pt x="955860" y="18389"/>
                  </a:cubicBezTo>
                  <a:cubicBezTo>
                    <a:pt x="967634" y="30163"/>
                    <a:pt x="974248" y="46132"/>
                    <a:pt x="974248" y="62784"/>
                  </a:cubicBezTo>
                  <a:lnTo>
                    <a:pt x="974248" y="1116232"/>
                  </a:lnTo>
                  <a:cubicBezTo>
                    <a:pt x="974248" y="1132883"/>
                    <a:pt x="967634" y="1148853"/>
                    <a:pt x="955860" y="1160627"/>
                  </a:cubicBezTo>
                  <a:cubicBezTo>
                    <a:pt x="944085" y="1172401"/>
                    <a:pt x="928116" y="1179016"/>
                    <a:pt x="911465" y="1179016"/>
                  </a:cubicBezTo>
                  <a:lnTo>
                    <a:pt x="62784" y="1179016"/>
                  </a:lnTo>
                  <a:cubicBezTo>
                    <a:pt x="46132" y="1179016"/>
                    <a:pt x="30163" y="1172401"/>
                    <a:pt x="18389" y="1160627"/>
                  </a:cubicBezTo>
                  <a:cubicBezTo>
                    <a:pt x="6615" y="1148853"/>
                    <a:pt x="0" y="1132883"/>
                    <a:pt x="0" y="1116232"/>
                  </a:cubicBezTo>
                  <a:lnTo>
                    <a:pt x="0" y="62784"/>
                  </a:lnTo>
                  <a:cubicBezTo>
                    <a:pt x="0" y="46132"/>
                    <a:pt x="6615" y="30163"/>
                    <a:pt x="18389" y="18389"/>
                  </a:cubicBezTo>
                  <a:cubicBezTo>
                    <a:pt x="30163" y="6615"/>
                    <a:pt x="46132" y="0"/>
                    <a:pt x="6278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974" r="0" b="-1197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873556" y="5921063"/>
            <a:ext cx="3785616" cy="4114800"/>
          </a:xfrm>
          <a:custGeom>
            <a:avLst/>
            <a:gdLst/>
            <a:ahLst/>
            <a:cxnLst/>
            <a:rect r="r" b="b" t="t" l="l"/>
            <a:pathLst>
              <a:path h="4114800" w="3785616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377112">
            <a:off x="-1077348" y="-871676"/>
            <a:ext cx="4756811" cy="1965897"/>
          </a:xfrm>
          <a:custGeom>
            <a:avLst/>
            <a:gdLst/>
            <a:ahLst/>
            <a:cxnLst/>
            <a:rect r="r" b="b" t="t" l="l"/>
            <a:pathLst>
              <a:path h="1965897" w="4756811">
                <a:moveTo>
                  <a:pt x="0" y="0"/>
                </a:moveTo>
                <a:lnTo>
                  <a:pt x="4756811" y="0"/>
                </a:lnTo>
                <a:lnTo>
                  <a:pt x="4756811" y="1965897"/>
                </a:lnTo>
                <a:lnTo>
                  <a:pt x="0" y="19658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037" y="2384798"/>
            <a:ext cx="10889909" cy="681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5"/>
              </a:lnSpc>
            </a:pPr>
            <a:r>
              <a:rPr lang="en-US" sz="348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Goal &amp; Objective:</a:t>
            </a:r>
          </a:p>
          <a:p>
            <a:pPr algn="l" marL="0" indent="0" lvl="0">
              <a:lnSpc>
                <a:spcPts val="4885"/>
              </a:lnSpc>
            </a:pPr>
            <a:r>
              <a:rPr lang="en-US" sz="34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Wa</a:t>
            </a:r>
            <a:r>
              <a:rPr lang="en-US" sz="34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rdrobe X is designed to deliver a seamless online clothing shopping experience with secure authentication, product browsing, and order management.</a:t>
            </a:r>
          </a:p>
          <a:p>
            <a:pPr algn="l" marL="0" indent="0" lvl="0">
              <a:lnSpc>
                <a:spcPts val="4885"/>
              </a:lnSpc>
            </a:pPr>
          </a:p>
          <a:p>
            <a:pPr algn="l" marL="0" indent="0" lvl="0">
              <a:lnSpc>
                <a:spcPts val="4885"/>
              </a:lnSpc>
            </a:pPr>
            <a:r>
              <a:rPr lang="en-US" b="true" sz="348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Scope of the project:</a:t>
            </a:r>
          </a:p>
          <a:p>
            <a:pPr algn="l" marL="0" indent="0" lvl="0">
              <a:lnSpc>
                <a:spcPts val="4885"/>
              </a:lnSpc>
            </a:pPr>
            <a:r>
              <a:rPr lang="en-US" sz="34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project covers complete e-commerce functionality including users, products, cart, orders, and admin/vendor dashboards.</a:t>
            </a:r>
          </a:p>
          <a:p>
            <a:pPr algn="l">
              <a:lnSpc>
                <a:spcPts val="4885"/>
              </a:lnSpc>
            </a:pPr>
            <a:r>
              <a:rPr lang="en-US" sz="34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97274" y="806496"/>
            <a:ext cx="6440224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Project Profile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780195">
            <a:off x="15775044" y="8927432"/>
            <a:ext cx="3750155" cy="3055995"/>
          </a:xfrm>
          <a:custGeom>
            <a:avLst/>
            <a:gdLst/>
            <a:ahLst/>
            <a:cxnLst/>
            <a:rect r="r" b="b" t="t" l="l"/>
            <a:pathLst>
              <a:path h="3055995" w="3750155">
                <a:moveTo>
                  <a:pt x="0" y="0"/>
                </a:moveTo>
                <a:lnTo>
                  <a:pt x="3750155" y="0"/>
                </a:lnTo>
                <a:lnTo>
                  <a:pt x="3750155" y="3055995"/>
                </a:lnTo>
                <a:lnTo>
                  <a:pt x="0" y="305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1558">
            <a:off x="-1309752" y="8555037"/>
            <a:ext cx="2390862" cy="2961653"/>
          </a:xfrm>
          <a:custGeom>
            <a:avLst/>
            <a:gdLst/>
            <a:ahLst/>
            <a:cxnLst/>
            <a:rect r="r" b="b" t="t" l="l"/>
            <a:pathLst>
              <a:path h="2961653" w="2390862">
                <a:moveTo>
                  <a:pt x="0" y="0"/>
                </a:moveTo>
                <a:lnTo>
                  <a:pt x="2390861" y="0"/>
                </a:lnTo>
                <a:lnTo>
                  <a:pt x="2390861" y="2961653"/>
                </a:lnTo>
                <a:lnTo>
                  <a:pt x="0" y="29616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31558">
            <a:off x="17049292" y="-1396595"/>
            <a:ext cx="2390862" cy="2961653"/>
          </a:xfrm>
          <a:custGeom>
            <a:avLst/>
            <a:gdLst/>
            <a:ahLst/>
            <a:cxnLst/>
            <a:rect r="r" b="b" t="t" l="l"/>
            <a:pathLst>
              <a:path h="2961653" w="2390862">
                <a:moveTo>
                  <a:pt x="0" y="0"/>
                </a:moveTo>
                <a:lnTo>
                  <a:pt x="2390862" y="0"/>
                </a:lnTo>
                <a:lnTo>
                  <a:pt x="2390862" y="2961653"/>
                </a:lnTo>
                <a:lnTo>
                  <a:pt x="0" y="29616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5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41082"/>
            <a:ext cx="8692298" cy="11200509"/>
            <a:chOff x="0" y="0"/>
            <a:chExt cx="1382147" cy="17809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2147" cy="1780973"/>
            </a:xfrm>
            <a:custGeom>
              <a:avLst/>
              <a:gdLst/>
              <a:ahLst/>
              <a:cxnLst/>
              <a:rect r="r" b="b" t="t" l="l"/>
              <a:pathLst>
                <a:path h="1780973" w="1382147">
                  <a:moveTo>
                    <a:pt x="22267" y="0"/>
                  </a:moveTo>
                  <a:lnTo>
                    <a:pt x="1359880" y="0"/>
                  </a:lnTo>
                  <a:cubicBezTo>
                    <a:pt x="1365786" y="0"/>
                    <a:pt x="1371449" y="2346"/>
                    <a:pt x="1375625" y="6522"/>
                  </a:cubicBezTo>
                  <a:cubicBezTo>
                    <a:pt x="1379801" y="10698"/>
                    <a:pt x="1382147" y="16361"/>
                    <a:pt x="1382147" y="22267"/>
                  </a:cubicBezTo>
                  <a:lnTo>
                    <a:pt x="1382147" y="1758706"/>
                  </a:lnTo>
                  <a:cubicBezTo>
                    <a:pt x="1382147" y="1771004"/>
                    <a:pt x="1372178" y="1780973"/>
                    <a:pt x="1359880" y="1780973"/>
                  </a:cubicBezTo>
                  <a:lnTo>
                    <a:pt x="22267" y="1780973"/>
                  </a:lnTo>
                  <a:cubicBezTo>
                    <a:pt x="16361" y="1780973"/>
                    <a:pt x="10698" y="1778627"/>
                    <a:pt x="6522" y="1774451"/>
                  </a:cubicBezTo>
                  <a:cubicBezTo>
                    <a:pt x="2346" y="1770275"/>
                    <a:pt x="0" y="1764612"/>
                    <a:pt x="0" y="1758706"/>
                  </a:cubicBezTo>
                  <a:lnTo>
                    <a:pt x="0" y="22267"/>
                  </a:lnTo>
                  <a:cubicBezTo>
                    <a:pt x="0" y="16361"/>
                    <a:pt x="2346" y="10698"/>
                    <a:pt x="6522" y="6522"/>
                  </a:cubicBezTo>
                  <a:cubicBezTo>
                    <a:pt x="10698" y="2346"/>
                    <a:pt x="16361" y="0"/>
                    <a:pt x="22267" y="0"/>
                  </a:cubicBezTo>
                  <a:close/>
                </a:path>
              </a:pathLst>
            </a:custGeom>
            <a:blipFill>
              <a:blip r:embed="rId2"/>
              <a:stretch>
                <a:fillRect l="-14427" t="0" r="-1442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862783" y="6544627"/>
            <a:ext cx="2850434" cy="4114800"/>
          </a:xfrm>
          <a:custGeom>
            <a:avLst/>
            <a:gdLst/>
            <a:ahLst/>
            <a:cxnLst/>
            <a:rect r="r" b="b" t="t" l="l"/>
            <a:pathLst>
              <a:path h="4114800" w="2850434">
                <a:moveTo>
                  <a:pt x="0" y="0"/>
                </a:moveTo>
                <a:lnTo>
                  <a:pt x="2850434" y="0"/>
                </a:lnTo>
                <a:lnTo>
                  <a:pt x="2850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1558">
            <a:off x="15991217" y="-1768351"/>
            <a:ext cx="2390862" cy="2961653"/>
          </a:xfrm>
          <a:custGeom>
            <a:avLst/>
            <a:gdLst/>
            <a:ahLst/>
            <a:cxnLst/>
            <a:rect r="r" b="b" t="t" l="l"/>
            <a:pathLst>
              <a:path h="2961653" w="2390862">
                <a:moveTo>
                  <a:pt x="0" y="0"/>
                </a:moveTo>
                <a:lnTo>
                  <a:pt x="2390861" y="0"/>
                </a:lnTo>
                <a:lnTo>
                  <a:pt x="2390861" y="2961653"/>
                </a:lnTo>
                <a:lnTo>
                  <a:pt x="0" y="29616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1558">
            <a:off x="7273676" y="8806173"/>
            <a:ext cx="2390862" cy="2961653"/>
          </a:xfrm>
          <a:custGeom>
            <a:avLst/>
            <a:gdLst/>
            <a:ahLst/>
            <a:cxnLst/>
            <a:rect r="r" b="b" t="t" l="l"/>
            <a:pathLst>
              <a:path h="2961653" w="2390862">
                <a:moveTo>
                  <a:pt x="0" y="0"/>
                </a:moveTo>
                <a:lnTo>
                  <a:pt x="2390862" y="0"/>
                </a:lnTo>
                <a:lnTo>
                  <a:pt x="2390862" y="2961654"/>
                </a:lnTo>
                <a:lnTo>
                  <a:pt x="0" y="2961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432159" y="473395"/>
            <a:ext cx="8319080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F8F7ED"/>
                </a:solidFill>
                <a:latin typeface="Agrandir Bold"/>
                <a:ea typeface="Agrandir Bold"/>
                <a:cs typeface="Agrandir Bold"/>
                <a:sym typeface="Agrandir Bold"/>
              </a:rPr>
              <a:t>System Environment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1136" y="4378563"/>
            <a:ext cx="768162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Modern web b</a:t>
            </a:r>
            <a:r>
              <a:rPr lang="en-US" sz="2599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rowser (Chrome, Edge, etc.)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1136" y="3815953"/>
            <a:ext cx="6965223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Internet c</a:t>
            </a:r>
            <a:r>
              <a:rPr lang="en-US" sz="2599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onnectivity required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257822"/>
            <a:ext cx="768875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Computer/Laptop with minimum 4GB RAM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68650" y="2525691"/>
            <a:ext cx="432363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8F7ED"/>
                </a:solidFill>
                <a:latin typeface="Poppins Bold"/>
                <a:ea typeface="Poppins Bold"/>
                <a:cs typeface="Poppins Bold"/>
                <a:sym typeface="Poppins Bold"/>
              </a:rPr>
              <a:t> Hardware Environment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68650" y="5255498"/>
            <a:ext cx="432363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8F7ED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 Requirement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5802868"/>
            <a:ext cx="8895398" cy="336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3800" indent="-296900" lvl="1">
              <a:lnSpc>
                <a:spcPts val="4483"/>
              </a:lnSpc>
              <a:buFont typeface="Arial"/>
              <a:buChar char="•"/>
            </a:pPr>
            <a:r>
              <a:rPr lang="en-US" sz="2750" spc="143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Frontend: React.js</a:t>
            </a:r>
          </a:p>
          <a:p>
            <a:pPr algn="l" marL="593800" indent="-296900" lvl="1">
              <a:lnSpc>
                <a:spcPts val="4483"/>
              </a:lnSpc>
              <a:buFont typeface="Arial"/>
              <a:buChar char="•"/>
            </a:pPr>
            <a:r>
              <a:rPr lang="en-US" sz="2750" spc="143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Backend: Node.js with Express.js</a:t>
            </a:r>
          </a:p>
          <a:p>
            <a:pPr algn="l" marL="593800" indent="-296900" lvl="1">
              <a:lnSpc>
                <a:spcPts val="4483"/>
              </a:lnSpc>
              <a:buFont typeface="Arial"/>
              <a:buChar char="•"/>
            </a:pPr>
            <a:r>
              <a:rPr lang="en-US" sz="2750" spc="143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Database: MongoDB</a:t>
            </a:r>
          </a:p>
          <a:p>
            <a:pPr algn="l" marL="593800" indent="-296900" lvl="1">
              <a:lnSpc>
                <a:spcPts val="4483"/>
              </a:lnSpc>
              <a:buFont typeface="Arial"/>
              <a:buChar char="•"/>
            </a:pPr>
            <a:r>
              <a:rPr lang="en-US" sz="2750" spc="143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Authentication: JWT (JSON Web Token)</a:t>
            </a:r>
          </a:p>
          <a:p>
            <a:pPr algn="l" marL="593800" indent="-296900" lvl="1">
              <a:lnSpc>
                <a:spcPts val="4483"/>
              </a:lnSpc>
              <a:buFont typeface="Arial"/>
              <a:buChar char="•"/>
            </a:pPr>
            <a:r>
              <a:rPr lang="en-US" sz="2750" spc="143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PWA Support: Service Workers &amp; IndexedDB</a:t>
            </a:r>
          </a:p>
          <a:p>
            <a:pPr algn="l" marL="593800" indent="-296900" lvl="1">
              <a:lnSpc>
                <a:spcPts val="4483"/>
              </a:lnSpc>
              <a:buFont typeface="Arial"/>
              <a:buChar char="•"/>
            </a:pPr>
            <a:r>
              <a:rPr lang="en-US" sz="2750" spc="143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Payment Integration: Razorpay / Stripe APIs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4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6357" y="-809642"/>
            <a:ext cx="4262034" cy="4114800"/>
          </a:xfrm>
          <a:custGeom>
            <a:avLst/>
            <a:gdLst/>
            <a:ahLst/>
            <a:cxnLst/>
            <a:rect r="r" b="b" t="t" l="l"/>
            <a:pathLst>
              <a:path h="4114800" w="4262034">
                <a:moveTo>
                  <a:pt x="0" y="0"/>
                </a:moveTo>
                <a:lnTo>
                  <a:pt x="4262034" y="0"/>
                </a:lnTo>
                <a:lnTo>
                  <a:pt x="42620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0969" y="1427717"/>
            <a:ext cx="5332137" cy="7830583"/>
            <a:chOff x="0" y="0"/>
            <a:chExt cx="1404349" cy="2062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4349" cy="2062376"/>
            </a:xfrm>
            <a:custGeom>
              <a:avLst/>
              <a:gdLst/>
              <a:ahLst/>
              <a:cxnLst/>
              <a:rect r="r" b="b" t="t" l="l"/>
              <a:pathLst>
                <a:path h="2062376" w="1404349">
                  <a:moveTo>
                    <a:pt x="49366" y="0"/>
                  </a:moveTo>
                  <a:lnTo>
                    <a:pt x="1354983" y="0"/>
                  </a:lnTo>
                  <a:cubicBezTo>
                    <a:pt x="1382247" y="0"/>
                    <a:pt x="1404349" y="22102"/>
                    <a:pt x="1404349" y="49366"/>
                  </a:cubicBezTo>
                  <a:lnTo>
                    <a:pt x="1404349" y="2013010"/>
                  </a:lnTo>
                  <a:cubicBezTo>
                    <a:pt x="1404349" y="2040274"/>
                    <a:pt x="1382247" y="2062376"/>
                    <a:pt x="1354983" y="2062376"/>
                  </a:cubicBezTo>
                  <a:lnTo>
                    <a:pt x="49366" y="2062376"/>
                  </a:lnTo>
                  <a:cubicBezTo>
                    <a:pt x="22102" y="2062376"/>
                    <a:pt x="0" y="2040274"/>
                    <a:pt x="0" y="2013010"/>
                  </a:cubicBezTo>
                  <a:lnTo>
                    <a:pt x="0" y="49366"/>
                  </a:lnTo>
                  <a:cubicBezTo>
                    <a:pt x="0" y="22102"/>
                    <a:pt x="22102" y="0"/>
                    <a:pt x="49366" y="0"/>
                  </a:cubicBezTo>
                  <a:close/>
                </a:path>
              </a:pathLst>
            </a:custGeom>
            <a:solidFill>
              <a:srgbClr val="F8F7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404349" cy="2157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 u="sng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Client Module</a:t>
              </a:r>
            </a:p>
            <a:p>
              <a:pPr algn="ctr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Register and login securely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Browse, search, filter, and sort products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View product details and recommendations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Add products to cart and manage cart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Place orders and make payments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Track order status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Request return or exchange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View and update profile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979225" y="9258300"/>
            <a:ext cx="5698119" cy="1490787"/>
          </a:xfrm>
          <a:custGeom>
            <a:avLst/>
            <a:gdLst/>
            <a:ahLst/>
            <a:cxnLst/>
            <a:rect r="r" b="b" t="t" l="l"/>
            <a:pathLst>
              <a:path h="1490787" w="5698119">
                <a:moveTo>
                  <a:pt x="0" y="0"/>
                </a:moveTo>
                <a:lnTo>
                  <a:pt x="5698119" y="0"/>
                </a:lnTo>
                <a:lnTo>
                  <a:pt x="5698119" y="1490787"/>
                </a:lnTo>
                <a:lnTo>
                  <a:pt x="0" y="1490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446819">
            <a:off x="15844771" y="-2527119"/>
            <a:ext cx="3605522" cy="4466300"/>
          </a:xfrm>
          <a:custGeom>
            <a:avLst/>
            <a:gdLst/>
            <a:ahLst/>
            <a:cxnLst/>
            <a:rect r="r" b="b" t="t" l="l"/>
            <a:pathLst>
              <a:path h="4466300" w="3605522">
                <a:moveTo>
                  <a:pt x="0" y="0"/>
                </a:moveTo>
                <a:lnTo>
                  <a:pt x="3605522" y="0"/>
                </a:lnTo>
                <a:lnTo>
                  <a:pt x="3605522" y="4466300"/>
                </a:lnTo>
                <a:lnTo>
                  <a:pt x="0" y="4466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477931" y="1427717"/>
            <a:ext cx="5332137" cy="7830583"/>
            <a:chOff x="0" y="0"/>
            <a:chExt cx="1404349" cy="2062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04349" cy="2062376"/>
            </a:xfrm>
            <a:custGeom>
              <a:avLst/>
              <a:gdLst/>
              <a:ahLst/>
              <a:cxnLst/>
              <a:rect r="r" b="b" t="t" l="l"/>
              <a:pathLst>
                <a:path h="2062376" w="1404349">
                  <a:moveTo>
                    <a:pt x="49366" y="0"/>
                  </a:moveTo>
                  <a:lnTo>
                    <a:pt x="1354983" y="0"/>
                  </a:lnTo>
                  <a:cubicBezTo>
                    <a:pt x="1382247" y="0"/>
                    <a:pt x="1404349" y="22102"/>
                    <a:pt x="1404349" y="49366"/>
                  </a:cubicBezTo>
                  <a:lnTo>
                    <a:pt x="1404349" y="2013010"/>
                  </a:lnTo>
                  <a:cubicBezTo>
                    <a:pt x="1404349" y="2040274"/>
                    <a:pt x="1382247" y="2062376"/>
                    <a:pt x="1354983" y="2062376"/>
                  </a:cubicBezTo>
                  <a:lnTo>
                    <a:pt x="49366" y="2062376"/>
                  </a:lnTo>
                  <a:cubicBezTo>
                    <a:pt x="22102" y="2062376"/>
                    <a:pt x="0" y="2040274"/>
                    <a:pt x="0" y="2013010"/>
                  </a:cubicBezTo>
                  <a:lnTo>
                    <a:pt x="0" y="49366"/>
                  </a:lnTo>
                  <a:cubicBezTo>
                    <a:pt x="0" y="22102"/>
                    <a:pt x="22102" y="0"/>
                    <a:pt x="49366" y="0"/>
                  </a:cubicBezTo>
                  <a:close/>
                </a:path>
              </a:pathLst>
            </a:custGeom>
            <a:solidFill>
              <a:srgbClr val="F8F7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404349" cy="2157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 u="sng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Admin Module</a:t>
              </a:r>
            </a:p>
            <a:p>
              <a:pPr algn="ctr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anage users (view, update, delete)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Add,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update, and delete products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Manage categories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View and manage all orders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Approv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e/reject return requests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Monitor sales analytics and reports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etect and manage fraudulent activities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15395" y="1427717"/>
            <a:ext cx="5332137" cy="7830583"/>
            <a:chOff x="0" y="0"/>
            <a:chExt cx="1404349" cy="2062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4349" cy="2062376"/>
            </a:xfrm>
            <a:custGeom>
              <a:avLst/>
              <a:gdLst/>
              <a:ahLst/>
              <a:cxnLst/>
              <a:rect r="r" b="b" t="t" l="l"/>
              <a:pathLst>
                <a:path h="2062376" w="1404349">
                  <a:moveTo>
                    <a:pt x="49366" y="0"/>
                  </a:moveTo>
                  <a:lnTo>
                    <a:pt x="1354983" y="0"/>
                  </a:lnTo>
                  <a:cubicBezTo>
                    <a:pt x="1382247" y="0"/>
                    <a:pt x="1404349" y="22102"/>
                    <a:pt x="1404349" y="49366"/>
                  </a:cubicBezTo>
                  <a:lnTo>
                    <a:pt x="1404349" y="2013010"/>
                  </a:lnTo>
                  <a:cubicBezTo>
                    <a:pt x="1404349" y="2040274"/>
                    <a:pt x="1382247" y="2062376"/>
                    <a:pt x="1354983" y="2062376"/>
                  </a:cubicBezTo>
                  <a:lnTo>
                    <a:pt x="49366" y="2062376"/>
                  </a:lnTo>
                  <a:cubicBezTo>
                    <a:pt x="22102" y="2062376"/>
                    <a:pt x="0" y="2040274"/>
                    <a:pt x="0" y="2013010"/>
                  </a:cubicBezTo>
                  <a:lnTo>
                    <a:pt x="0" y="49366"/>
                  </a:lnTo>
                  <a:cubicBezTo>
                    <a:pt x="0" y="22102"/>
                    <a:pt x="22102" y="0"/>
                    <a:pt x="49366" y="0"/>
                  </a:cubicBezTo>
                  <a:close/>
                </a:path>
              </a:pathLst>
            </a:custGeom>
            <a:solidFill>
              <a:srgbClr val="F8F7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404349" cy="2157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 u="sng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Vendor Module</a:t>
              </a:r>
            </a:p>
            <a:p>
              <a:pPr algn="ctr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gister and manage vendor profile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Add,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update, and delete products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Manage product inventory (stock)</a:t>
              </a: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View and process orders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Handl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 exchange requests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rack sales and performance</a:t>
              </a: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5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176" y="-1970354"/>
            <a:ext cx="4824460" cy="5083244"/>
          </a:xfrm>
          <a:custGeom>
            <a:avLst/>
            <a:gdLst/>
            <a:ahLst/>
            <a:cxnLst/>
            <a:rect r="r" b="b" t="t" l="l"/>
            <a:pathLst>
              <a:path h="5083244" w="4824460">
                <a:moveTo>
                  <a:pt x="0" y="0"/>
                </a:moveTo>
                <a:lnTo>
                  <a:pt x="4824460" y="0"/>
                </a:lnTo>
                <a:lnTo>
                  <a:pt x="4824460" y="5083244"/>
                </a:lnTo>
                <a:lnTo>
                  <a:pt x="0" y="508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260486" y="7216184"/>
            <a:ext cx="2850434" cy="4114800"/>
          </a:xfrm>
          <a:custGeom>
            <a:avLst/>
            <a:gdLst/>
            <a:ahLst/>
            <a:cxnLst/>
            <a:rect r="r" b="b" t="t" l="l"/>
            <a:pathLst>
              <a:path h="4114800" w="2850434">
                <a:moveTo>
                  <a:pt x="0" y="0"/>
                </a:moveTo>
                <a:lnTo>
                  <a:pt x="2850434" y="0"/>
                </a:lnTo>
                <a:lnTo>
                  <a:pt x="2850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4581">
            <a:off x="-106791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61079">
            <a:off x="14450630" y="9251536"/>
            <a:ext cx="4756811" cy="1965897"/>
          </a:xfrm>
          <a:custGeom>
            <a:avLst/>
            <a:gdLst/>
            <a:ahLst/>
            <a:cxnLst/>
            <a:rect r="r" b="b" t="t" l="l"/>
            <a:pathLst>
              <a:path h="1965897" w="4756811">
                <a:moveTo>
                  <a:pt x="0" y="0"/>
                </a:moveTo>
                <a:lnTo>
                  <a:pt x="4756811" y="0"/>
                </a:lnTo>
                <a:lnTo>
                  <a:pt x="4756811" y="1965897"/>
                </a:lnTo>
                <a:lnTo>
                  <a:pt x="0" y="19658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26942" y="3112890"/>
            <a:ext cx="11113607" cy="3925764"/>
            <a:chOff x="0" y="0"/>
            <a:chExt cx="2033734" cy="718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3734" cy="718414"/>
            </a:xfrm>
            <a:custGeom>
              <a:avLst/>
              <a:gdLst/>
              <a:ahLst/>
              <a:cxnLst/>
              <a:rect r="r" b="b" t="t" l="l"/>
              <a:pathLst>
                <a:path h="718414" w="2033734">
                  <a:moveTo>
                    <a:pt x="2033734" y="24382"/>
                  </a:moveTo>
                  <a:lnTo>
                    <a:pt x="2033734" y="694033"/>
                  </a:lnTo>
                  <a:cubicBezTo>
                    <a:pt x="2033734" y="707498"/>
                    <a:pt x="2022818" y="718414"/>
                    <a:pt x="2009353" y="718414"/>
                  </a:cubicBezTo>
                  <a:lnTo>
                    <a:pt x="24382" y="718414"/>
                  </a:lnTo>
                  <a:cubicBezTo>
                    <a:pt x="10916" y="718414"/>
                    <a:pt x="0" y="707498"/>
                    <a:pt x="0" y="694033"/>
                  </a:cubicBezTo>
                  <a:lnTo>
                    <a:pt x="0" y="24382"/>
                  </a:lnTo>
                  <a:cubicBezTo>
                    <a:pt x="0" y="10916"/>
                    <a:pt x="10916" y="0"/>
                    <a:pt x="24382" y="0"/>
                  </a:cubicBezTo>
                  <a:lnTo>
                    <a:pt x="2009353" y="0"/>
                  </a:lnTo>
                  <a:cubicBezTo>
                    <a:pt x="2022818" y="0"/>
                    <a:pt x="2033734" y="10916"/>
                    <a:pt x="2033734" y="24382"/>
                  </a:cubicBezTo>
                  <a:close/>
                </a:path>
              </a:pathLst>
            </a:custGeom>
            <a:solidFill>
              <a:srgbClr val="F8F7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033734" cy="861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166"/>
                </a:lnSpc>
              </a:pPr>
              <a:r>
                <a:rPr lang="en-US" b="true" sz="7261">
                  <a:solidFill>
                    <a:srgbClr val="5B462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Data Flow Diagram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6401">
            <a:off x="-737941" y="9323253"/>
            <a:ext cx="3148660" cy="1998942"/>
          </a:xfrm>
          <a:custGeom>
            <a:avLst/>
            <a:gdLst/>
            <a:ahLst/>
            <a:cxnLst/>
            <a:rect r="r" b="b" t="t" l="l"/>
            <a:pathLst>
              <a:path h="1998942" w="3148660">
                <a:moveTo>
                  <a:pt x="0" y="0"/>
                </a:moveTo>
                <a:lnTo>
                  <a:pt x="3148660" y="0"/>
                </a:lnTo>
                <a:lnTo>
                  <a:pt x="3148660" y="1998941"/>
                </a:lnTo>
                <a:lnTo>
                  <a:pt x="0" y="199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7389" y="1474948"/>
            <a:ext cx="16770449" cy="8316577"/>
          </a:xfrm>
          <a:custGeom>
            <a:avLst/>
            <a:gdLst/>
            <a:ahLst/>
            <a:cxnLst/>
            <a:rect r="r" b="b" t="t" l="l"/>
            <a:pathLst>
              <a:path h="8316577" w="16770449">
                <a:moveTo>
                  <a:pt x="0" y="0"/>
                </a:moveTo>
                <a:lnTo>
                  <a:pt x="16770449" y="0"/>
                </a:lnTo>
                <a:lnTo>
                  <a:pt x="16770449" y="8316577"/>
                </a:lnTo>
                <a:lnTo>
                  <a:pt x="0" y="8316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3" t="0" r="-1703" b="-65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6389" y="400685"/>
            <a:ext cx="4435669" cy="73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0 Level Dfd: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6401">
            <a:off x="-737941" y="9323253"/>
            <a:ext cx="3148660" cy="1998942"/>
          </a:xfrm>
          <a:custGeom>
            <a:avLst/>
            <a:gdLst/>
            <a:ahLst/>
            <a:cxnLst/>
            <a:rect r="r" b="b" t="t" l="l"/>
            <a:pathLst>
              <a:path h="1998942" w="3148660">
                <a:moveTo>
                  <a:pt x="0" y="0"/>
                </a:moveTo>
                <a:lnTo>
                  <a:pt x="3148660" y="0"/>
                </a:lnTo>
                <a:lnTo>
                  <a:pt x="3148660" y="1998941"/>
                </a:lnTo>
                <a:lnTo>
                  <a:pt x="0" y="199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68672" y="277552"/>
            <a:ext cx="11400571" cy="9897518"/>
          </a:xfrm>
          <a:custGeom>
            <a:avLst/>
            <a:gdLst/>
            <a:ahLst/>
            <a:cxnLst/>
            <a:rect r="r" b="b" t="t" l="l"/>
            <a:pathLst>
              <a:path h="9897518" w="11400571">
                <a:moveTo>
                  <a:pt x="0" y="0"/>
                </a:moveTo>
                <a:lnTo>
                  <a:pt x="11400571" y="0"/>
                </a:lnTo>
                <a:lnTo>
                  <a:pt x="11400571" y="9897518"/>
                </a:lnTo>
                <a:lnTo>
                  <a:pt x="0" y="9897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37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6389" y="400685"/>
            <a:ext cx="4435669" cy="73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1st Level Dfd: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5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176" y="-1970354"/>
            <a:ext cx="4824460" cy="5083244"/>
          </a:xfrm>
          <a:custGeom>
            <a:avLst/>
            <a:gdLst/>
            <a:ahLst/>
            <a:cxnLst/>
            <a:rect r="r" b="b" t="t" l="l"/>
            <a:pathLst>
              <a:path h="5083244" w="4824460">
                <a:moveTo>
                  <a:pt x="0" y="0"/>
                </a:moveTo>
                <a:lnTo>
                  <a:pt x="4824460" y="0"/>
                </a:lnTo>
                <a:lnTo>
                  <a:pt x="4824460" y="5083244"/>
                </a:lnTo>
                <a:lnTo>
                  <a:pt x="0" y="508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260486" y="7216184"/>
            <a:ext cx="2850434" cy="4114800"/>
          </a:xfrm>
          <a:custGeom>
            <a:avLst/>
            <a:gdLst/>
            <a:ahLst/>
            <a:cxnLst/>
            <a:rect r="r" b="b" t="t" l="l"/>
            <a:pathLst>
              <a:path h="4114800" w="2850434">
                <a:moveTo>
                  <a:pt x="0" y="0"/>
                </a:moveTo>
                <a:lnTo>
                  <a:pt x="2850434" y="0"/>
                </a:lnTo>
                <a:lnTo>
                  <a:pt x="2850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4581">
            <a:off x="-106791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61079">
            <a:off x="14450630" y="9251536"/>
            <a:ext cx="4756811" cy="1965897"/>
          </a:xfrm>
          <a:custGeom>
            <a:avLst/>
            <a:gdLst/>
            <a:ahLst/>
            <a:cxnLst/>
            <a:rect r="r" b="b" t="t" l="l"/>
            <a:pathLst>
              <a:path h="1965897" w="4756811">
                <a:moveTo>
                  <a:pt x="0" y="0"/>
                </a:moveTo>
                <a:lnTo>
                  <a:pt x="4756811" y="0"/>
                </a:lnTo>
                <a:lnTo>
                  <a:pt x="4756811" y="1965897"/>
                </a:lnTo>
                <a:lnTo>
                  <a:pt x="0" y="19658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26942" y="3112890"/>
            <a:ext cx="11113607" cy="3925764"/>
            <a:chOff x="0" y="0"/>
            <a:chExt cx="2033734" cy="718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3734" cy="718414"/>
            </a:xfrm>
            <a:custGeom>
              <a:avLst/>
              <a:gdLst/>
              <a:ahLst/>
              <a:cxnLst/>
              <a:rect r="r" b="b" t="t" l="l"/>
              <a:pathLst>
                <a:path h="718414" w="2033734">
                  <a:moveTo>
                    <a:pt x="2033734" y="24382"/>
                  </a:moveTo>
                  <a:lnTo>
                    <a:pt x="2033734" y="694033"/>
                  </a:lnTo>
                  <a:cubicBezTo>
                    <a:pt x="2033734" y="707498"/>
                    <a:pt x="2022818" y="718414"/>
                    <a:pt x="2009353" y="718414"/>
                  </a:cubicBezTo>
                  <a:lnTo>
                    <a:pt x="24382" y="718414"/>
                  </a:lnTo>
                  <a:cubicBezTo>
                    <a:pt x="10916" y="718414"/>
                    <a:pt x="0" y="707498"/>
                    <a:pt x="0" y="694033"/>
                  </a:cubicBezTo>
                  <a:lnTo>
                    <a:pt x="0" y="24382"/>
                  </a:lnTo>
                  <a:cubicBezTo>
                    <a:pt x="0" y="10916"/>
                    <a:pt x="10916" y="0"/>
                    <a:pt x="24382" y="0"/>
                  </a:cubicBezTo>
                  <a:lnTo>
                    <a:pt x="2009353" y="0"/>
                  </a:lnTo>
                  <a:cubicBezTo>
                    <a:pt x="2022818" y="0"/>
                    <a:pt x="2033734" y="10916"/>
                    <a:pt x="2033734" y="24382"/>
                  </a:cubicBezTo>
                  <a:close/>
                </a:path>
              </a:pathLst>
            </a:custGeom>
            <a:solidFill>
              <a:srgbClr val="F8F7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71450"/>
              <a:ext cx="2033734" cy="889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266"/>
                </a:lnSpc>
              </a:pPr>
              <a:r>
                <a:rPr lang="en-US" b="true" sz="8761">
                  <a:solidFill>
                    <a:srgbClr val="5B462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Data Dictionary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6401">
            <a:off x="-737941" y="9323253"/>
            <a:ext cx="3148660" cy="1998942"/>
          </a:xfrm>
          <a:custGeom>
            <a:avLst/>
            <a:gdLst/>
            <a:ahLst/>
            <a:cxnLst/>
            <a:rect r="r" b="b" t="t" l="l"/>
            <a:pathLst>
              <a:path h="1998942" w="3148660">
                <a:moveTo>
                  <a:pt x="0" y="0"/>
                </a:moveTo>
                <a:lnTo>
                  <a:pt x="3148660" y="0"/>
                </a:lnTo>
                <a:lnTo>
                  <a:pt x="3148660" y="1998941"/>
                </a:lnTo>
                <a:lnTo>
                  <a:pt x="0" y="199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1415059" y="1901176"/>
          <a:ext cx="7053943" cy="8229600"/>
        </p:xfrm>
        <a:graphic>
          <a:graphicData uri="http://schemas.openxmlformats.org/presentationml/2006/ole">
            <p:oleObj imgW="8686800" imgH="9867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577380" y="825485"/>
            <a:ext cx="3153589" cy="8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User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6401">
            <a:off x="-737941" y="9323253"/>
            <a:ext cx="3148660" cy="1998942"/>
          </a:xfrm>
          <a:custGeom>
            <a:avLst/>
            <a:gdLst/>
            <a:ahLst/>
            <a:cxnLst/>
            <a:rect r="r" b="b" t="t" l="l"/>
            <a:pathLst>
              <a:path h="1998942" w="3148660">
                <a:moveTo>
                  <a:pt x="0" y="0"/>
                </a:moveTo>
                <a:lnTo>
                  <a:pt x="3148660" y="0"/>
                </a:lnTo>
                <a:lnTo>
                  <a:pt x="3148660" y="1998941"/>
                </a:lnTo>
                <a:lnTo>
                  <a:pt x="0" y="199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2267194" y="2342806"/>
          <a:ext cx="7543800" cy="6286500"/>
        </p:xfrm>
        <a:graphic>
          <a:graphicData uri="http://schemas.openxmlformats.org/presentationml/2006/ole">
            <p:oleObj imgW="9042400" imgH="77851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404915" y="1300193"/>
            <a:ext cx="4411577" cy="8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Membership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6401">
            <a:off x="-737941" y="9323253"/>
            <a:ext cx="3148660" cy="1998942"/>
          </a:xfrm>
          <a:custGeom>
            <a:avLst/>
            <a:gdLst/>
            <a:ahLst/>
            <a:cxnLst/>
            <a:rect r="r" b="b" t="t" l="l"/>
            <a:pathLst>
              <a:path h="1998942" w="3148660">
                <a:moveTo>
                  <a:pt x="0" y="0"/>
                </a:moveTo>
                <a:lnTo>
                  <a:pt x="3148660" y="0"/>
                </a:lnTo>
                <a:lnTo>
                  <a:pt x="3148660" y="1998941"/>
                </a:lnTo>
                <a:lnTo>
                  <a:pt x="0" y="199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3415581" y="2405423"/>
          <a:ext cx="7543800" cy="4400550"/>
        </p:xfrm>
        <a:graphic>
          <a:graphicData uri="http://schemas.openxmlformats.org/presentationml/2006/ole">
            <p:oleObj imgW="9042400" imgH="5905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642613" y="1421933"/>
            <a:ext cx="4411577" cy="8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CMS BANNER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6401">
            <a:off x="-737941" y="9323253"/>
            <a:ext cx="3148660" cy="1998942"/>
          </a:xfrm>
          <a:custGeom>
            <a:avLst/>
            <a:gdLst/>
            <a:ahLst/>
            <a:cxnLst/>
            <a:rect r="r" b="b" t="t" l="l"/>
            <a:pathLst>
              <a:path h="1998942" w="3148660">
                <a:moveTo>
                  <a:pt x="0" y="0"/>
                </a:moveTo>
                <a:lnTo>
                  <a:pt x="3148660" y="0"/>
                </a:lnTo>
                <a:lnTo>
                  <a:pt x="3148660" y="1998941"/>
                </a:lnTo>
                <a:lnTo>
                  <a:pt x="0" y="199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3634365" y="2516788"/>
          <a:ext cx="7543800" cy="3143250"/>
        </p:xfrm>
        <a:graphic>
          <a:graphicData uri="http://schemas.openxmlformats.org/presentationml/2006/ole">
            <p:oleObj imgW="9042400" imgH="4648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634365" y="1674142"/>
            <a:ext cx="2768076" cy="8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CART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6401">
            <a:off x="-737941" y="9323253"/>
            <a:ext cx="3148660" cy="1998942"/>
          </a:xfrm>
          <a:custGeom>
            <a:avLst/>
            <a:gdLst/>
            <a:ahLst/>
            <a:cxnLst/>
            <a:rect r="r" b="b" t="t" l="l"/>
            <a:pathLst>
              <a:path h="1998942" w="3148660">
                <a:moveTo>
                  <a:pt x="0" y="0"/>
                </a:moveTo>
                <a:lnTo>
                  <a:pt x="3148660" y="0"/>
                </a:lnTo>
                <a:lnTo>
                  <a:pt x="3148660" y="1998941"/>
                </a:lnTo>
                <a:lnTo>
                  <a:pt x="0" y="19989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2815740" y="2516788"/>
          <a:ext cx="7543800" cy="6915150"/>
        </p:xfrm>
        <a:graphic>
          <a:graphicData uri="http://schemas.openxmlformats.org/presentationml/2006/ole">
            <p:oleObj imgW="9042400" imgH="84201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3248852" y="1491531"/>
            <a:ext cx="3559391" cy="8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FroudsLog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842187" y="1840305"/>
          <a:ext cx="7053943" cy="8229600"/>
        </p:xfrm>
        <a:graphic>
          <a:graphicData uri="http://schemas.openxmlformats.org/presentationml/2006/ole">
            <p:oleObj imgW="8686800" imgH="9867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842187" y="795049"/>
            <a:ext cx="3559391" cy="8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Orders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2328065" y="2157506"/>
          <a:ext cx="7543800" cy="5029200"/>
        </p:xfrm>
        <a:graphic>
          <a:graphicData uri="http://schemas.openxmlformats.org/presentationml/2006/ole">
            <p:oleObj imgW="9042400" imgH="6527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140186" y="1219782"/>
            <a:ext cx="3559391" cy="8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Payouts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2517959" y="1731312"/>
          <a:ext cx="6583680" cy="8229600"/>
        </p:xfrm>
        <a:graphic>
          <a:graphicData uri="http://schemas.openxmlformats.org/presentationml/2006/ole">
            <p:oleObj imgW="8229600" imgH="9867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560898" y="740553"/>
            <a:ext cx="3559391" cy="8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2508950" y="1575466"/>
          <a:ext cx="6583680" cy="8229600"/>
        </p:xfrm>
        <a:graphic>
          <a:graphicData uri="http://schemas.openxmlformats.org/presentationml/2006/ole">
            <p:oleObj imgW="8229600" imgH="9867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688977" y="732819"/>
            <a:ext cx="3559391" cy="84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b="true" sz="46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Returns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3119380" y="2628556"/>
          <a:ext cx="7543800" cy="3771900"/>
        </p:xfrm>
        <a:graphic>
          <a:graphicData uri="http://schemas.openxmlformats.org/presentationml/2006/ole">
            <p:oleObj imgW="9042400" imgH="5270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581742" y="1372578"/>
            <a:ext cx="3985484" cy="86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5B462C"/>
                </a:solidFill>
                <a:latin typeface="Poppins Bold"/>
                <a:ea typeface="Poppins Bold"/>
                <a:cs typeface="Poppins Bold"/>
                <a:sym typeface="Poppins Bold"/>
              </a:rPr>
              <a:t>UserActivity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5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176" y="-1970354"/>
            <a:ext cx="4824460" cy="5083244"/>
          </a:xfrm>
          <a:custGeom>
            <a:avLst/>
            <a:gdLst/>
            <a:ahLst/>
            <a:cxnLst/>
            <a:rect r="r" b="b" t="t" l="l"/>
            <a:pathLst>
              <a:path h="5083244" w="4824460">
                <a:moveTo>
                  <a:pt x="0" y="0"/>
                </a:moveTo>
                <a:lnTo>
                  <a:pt x="4824460" y="0"/>
                </a:lnTo>
                <a:lnTo>
                  <a:pt x="4824460" y="5083244"/>
                </a:lnTo>
                <a:lnTo>
                  <a:pt x="0" y="508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260486" y="7216184"/>
            <a:ext cx="2850434" cy="4114800"/>
          </a:xfrm>
          <a:custGeom>
            <a:avLst/>
            <a:gdLst/>
            <a:ahLst/>
            <a:cxnLst/>
            <a:rect r="r" b="b" t="t" l="l"/>
            <a:pathLst>
              <a:path h="4114800" w="2850434">
                <a:moveTo>
                  <a:pt x="0" y="0"/>
                </a:moveTo>
                <a:lnTo>
                  <a:pt x="2850434" y="0"/>
                </a:lnTo>
                <a:lnTo>
                  <a:pt x="2850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4581">
            <a:off x="-106791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61079">
            <a:off x="14450630" y="9251536"/>
            <a:ext cx="4756811" cy="1965897"/>
          </a:xfrm>
          <a:custGeom>
            <a:avLst/>
            <a:gdLst/>
            <a:ahLst/>
            <a:cxnLst/>
            <a:rect r="r" b="b" t="t" l="l"/>
            <a:pathLst>
              <a:path h="1965897" w="4756811">
                <a:moveTo>
                  <a:pt x="0" y="0"/>
                </a:moveTo>
                <a:lnTo>
                  <a:pt x="4756811" y="0"/>
                </a:lnTo>
                <a:lnTo>
                  <a:pt x="4756811" y="1965897"/>
                </a:lnTo>
                <a:lnTo>
                  <a:pt x="0" y="19658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226942" y="3112890"/>
            <a:ext cx="11113607" cy="3925764"/>
            <a:chOff x="0" y="0"/>
            <a:chExt cx="2033734" cy="718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3734" cy="718414"/>
            </a:xfrm>
            <a:custGeom>
              <a:avLst/>
              <a:gdLst/>
              <a:ahLst/>
              <a:cxnLst/>
              <a:rect r="r" b="b" t="t" l="l"/>
              <a:pathLst>
                <a:path h="718414" w="2033734">
                  <a:moveTo>
                    <a:pt x="2033734" y="24382"/>
                  </a:moveTo>
                  <a:lnTo>
                    <a:pt x="2033734" y="694033"/>
                  </a:lnTo>
                  <a:cubicBezTo>
                    <a:pt x="2033734" y="707498"/>
                    <a:pt x="2022818" y="718414"/>
                    <a:pt x="2009353" y="718414"/>
                  </a:cubicBezTo>
                  <a:lnTo>
                    <a:pt x="24382" y="718414"/>
                  </a:lnTo>
                  <a:cubicBezTo>
                    <a:pt x="10916" y="718414"/>
                    <a:pt x="0" y="707498"/>
                    <a:pt x="0" y="694033"/>
                  </a:cubicBezTo>
                  <a:lnTo>
                    <a:pt x="0" y="24382"/>
                  </a:lnTo>
                  <a:cubicBezTo>
                    <a:pt x="0" y="10916"/>
                    <a:pt x="10916" y="0"/>
                    <a:pt x="24382" y="0"/>
                  </a:cubicBezTo>
                  <a:lnTo>
                    <a:pt x="2009353" y="0"/>
                  </a:lnTo>
                  <a:cubicBezTo>
                    <a:pt x="2022818" y="0"/>
                    <a:pt x="2033734" y="10916"/>
                    <a:pt x="2033734" y="24382"/>
                  </a:cubicBezTo>
                  <a:close/>
                </a:path>
              </a:pathLst>
            </a:custGeom>
            <a:solidFill>
              <a:srgbClr val="F8F7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033734" cy="861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166"/>
                </a:lnSpc>
              </a:pPr>
              <a:r>
                <a:rPr lang="en-US" b="true" sz="7261">
                  <a:solidFill>
                    <a:srgbClr val="5B462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Form Designing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8672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5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16292" y="-338565"/>
            <a:ext cx="6139106" cy="11040268"/>
            <a:chOff x="0" y="0"/>
            <a:chExt cx="951108" cy="17104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1108" cy="1710426"/>
            </a:xfrm>
            <a:custGeom>
              <a:avLst/>
              <a:gdLst/>
              <a:ahLst/>
              <a:cxnLst/>
              <a:rect r="r" b="b" t="t" l="l"/>
              <a:pathLst>
                <a:path h="1710426" w="951108">
                  <a:moveTo>
                    <a:pt x="63054" y="0"/>
                  </a:moveTo>
                  <a:lnTo>
                    <a:pt x="888054" y="0"/>
                  </a:lnTo>
                  <a:cubicBezTo>
                    <a:pt x="904777" y="0"/>
                    <a:pt x="920815" y="6643"/>
                    <a:pt x="932640" y="18468"/>
                  </a:cubicBezTo>
                  <a:cubicBezTo>
                    <a:pt x="944465" y="30293"/>
                    <a:pt x="951108" y="46331"/>
                    <a:pt x="951108" y="63054"/>
                  </a:cubicBezTo>
                  <a:lnTo>
                    <a:pt x="951108" y="1647372"/>
                  </a:lnTo>
                  <a:cubicBezTo>
                    <a:pt x="951108" y="1682196"/>
                    <a:pt x="922878" y="1710426"/>
                    <a:pt x="888054" y="1710426"/>
                  </a:cubicBezTo>
                  <a:lnTo>
                    <a:pt x="63054" y="1710426"/>
                  </a:lnTo>
                  <a:cubicBezTo>
                    <a:pt x="28230" y="1710426"/>
                    <a:pt x="0" y="1682196"/>
                    <a:pt x="0" y="1647372"/>
                  </a:cubicBezTo>
                  <a:lnTo>
                    <a:pt x="0" y="63054"/>
                  </a:lnTo>
                  <a:cubicBezTo>
                    <a:pt x="0" y="28230"/>
                    <a:pt x="28230" y="0"/>
                    <a:pt x="63054" y="0"/>
                  </a:cubicBezTo>
                  <a:close/>
                </a:path>
              </a:pathLst>
            </a:custGeom>
            <a:blipFill>
              <a:blip r:embed="rId2"/>
              <a:stretch>
                <a:fillRect l="-84876" t="0" r="-84876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566201" y="5563013"/>
            <a:ext cx="1980235" cy="2464093"/>
          </a:xfrm>
          <a:custGeom>
            <a:avLst/>
            <a:gdLst/>
            <a:ahLst/>
            <a:cxnLst/>
            <a:rect r="r" b="b" t="t" l="l"/>
            <a:pathLst>
              <a:path h="2464093" w="1980235">
                <a:moveTo>
                  <a:pt x="0" y="0"/>
                </a:moveTo>
                <a:lnTo>
                  <a:pt x="1980235" y="0"/>
                </a:lnTo>
                <a:lnTo>
                  <a:pt x="1980235" y="2464093"/>
                </a:lnTo>
                <a:lnTo>
                  <a:pt x="0" y="24640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86504" y="1108995"/>
            <a:ext cx="6658648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8F7ED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6257" y="2919380"/>
            <a:ext cx="11099944" cy="590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Wardr</a:t>
            </a:r>
            <a:r>
              <a:rPr lang="en-US" sz="2600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obe X successfully delivers a comprehensive and scalable online clothing shopping platform that integrates user-friendly design with advanced backend functionalities. The system supports multi-user roles including customers, vendors, and administrators, ensuring efficient product management, order processing, and secure transactions.</a:t>
            </a:r>
          </a:p>
          <a:p>
            <a:pPr algn="l">
              <a:lnSpc>
                <a:spcPts val="3640"/>
              </a:lnSpc>
            </a:pP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With features like AI-based recommendations, return and exchange management, fraud detection, and vendor settlements, the project reflects real-world e-commerce architecture. Overall, Wardrobe X provides a reliable, efficient, and modern solution that enhances user experi</a:t>
            </a:r>
            <a:r>
              <a:rPr lang="en-US" sz="2600" strike="noStrike" u="none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ence while supporting business growth.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8532489">
            <a:off x="-2155051" y="-1567536"/>
            <a:ext cx="3750155" cy="3055995"/>
          </a:xfrm>
          <a:custGeom>
            <a:avLst/>
            <a:gdLst/>
            <a:ahLst/>
            <a:cxnLst/>
            <a:rect r="r" b="b" t="t" l="l"/>
            <a:pathLst>
              <a:path h="3055995" w="3750155">
                <a:moveTo>
                  <a:pt x="0" y="0"/>
                </a:moveTo>
                <a:lnTo>
                  <a:pt x="3750155" y="0"/>
                </a:lnTo>
                <a:lnTo>
                  <a:pt x="3750155" y="3055995"/>
                </a:lnTo>
                <a:lnTo>
                  <a:pt x="0" y="30559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31558">
            <a:off x="5410459" y="9155566"/>
            <a:ext cx="2390862" cy="2961653"/>
          </a:xfrm>
          <a:custGeom>
            <a:avLst/>
            <a:gdLst/>
            <a:ahLst/>
            <a:cxnLst/>
            <a:rect r="r" b="b" t="t" l="l"/>
            <a:pathLst>
              <a:path h="2961653" w="2390862">
                <a:moveTo>
                  <a:pt x="0" y="0"/>
                </a:moveTo>
                <a:lnTo>
                  <a:pt x="2390862" y="0"/>
                </a:lnTo>
                <a:lnTo>
                  <a:pt x="2390862" y="2961653"/>
                </a:lnTo>
                <a:lnTo>
                  <a:pt x="0" y="29616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B4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1285" y="914400"/>
            <a:ext cx="11832592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F8F7ED"/>
                </a:solidFill>
                <a:latin typeface="Agrandir Bold"/>
                <a:ea typeface="Agrandir Bold"/>
                <a:cs typeface="Agrandir Bold"/>
                <a:sym typeface="Agrandir Bold"/>
              </a:rPr>
              <a:t> Refe</a:t>
            </a:r>
            <a:r>
              <a:rPr lang="en-US" sz="6800" b="true">
                <a:solidFill>
                  <a:srgbClr val="F8F7ED"/>
                </a:solidFill>
                <a:latin typeface="Agrandir Bold"/>
                <a:ea typeface="Agrandir Bold"/>
                <a:cs typeface="Agrandir Bold"/>
                <a:sym typeface="Agrandir Bold"/>
              </a:rPr>
              <a:t>rences / Bibliography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2256" y="2727289"/>
            <a:ext cx="11490650" cy="506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633" indent="-342816" lvl="1">
              <a:lnSpc>
                <a:spcPts val="4445"/>
              </a:lnSpc>
              <a:buFont typeface="Arial"/>
              <a:buChar char="•"/>
            </a:pPr>
            <a:r>
              <a:rPr lang="en-US" sz="3175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Official documentation of React.js </a:t>
            </a:r>
          </a:p>
          <a:p>
            <a:pPr algn="l" marL="685633" indent="-342816" lvl="1">
              <a:lnSpc>
                <a:spcPts val="4445"/>
              </a:lnSpc>
              <a:buFont typeface="Arial"/>
              <a:buChar char="•"/>
            </a:pPr>
            <a:r>
              <a:rPr lang="en-US" sz="3175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Node.js documentation </a:t>
            </a:r>
          </a:p>
          <a:p>
            <a:pPr algn="l" marL="685633" indent="-342816" lvl="1">
              <a:lnSpc>
                <a:spcPts val="4445"/>
              </a:lnSpc>
              <a:buFont typeface="Arial"/>
              <a:buChar char="•"/>
            </a:pPr>
            <a:r>
              <a:rPr lang="en-US" sz="3175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Express.js documentation </a:t>
            </a:r>
          </a:p>
          <a:p>
            <a:pPr algn="l" marL="685633" indent="-342816" lvl="1">
              <a:lnSpc>
                <a:spcPts val="4445"/>
              </a:lnSpc>
              <a:buFont typeface="Arial"/>
              <a:buChar char="•"/>
            </a:pPr>
            <a:r>
              <a:rPr lang="en-US" sz="3175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MongoDB documentation </a:t>
            </a:r>
          </a:p>
          <a:p>
            <a:pPr algn="l" marL="685633" indent="-342816" lvl="1">
              <a:lnSpc>
                <a:spcPts val="4445"/>
              </a:lnSpc>
              <a:buFont typeface="Arial"/>
              <a:buChar char="•"/>
            </a:pPr>
            <a:r>
              <a:rPr lang="en-US" sz="3175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JWT Authentication </a:t>
            </a:r>
          </a:p>
          <a:p>
            <a:pPr algn="l" marL="685633" indent="-342816" lvl="1">
              <a:lnSpc>
                <a:spcPts val="4445"/>
              </a:lnSpc>
              <a:buFont typeface="Arial"/>
              <a:buChar char="•"/>
            </a:pPr>
            <a:r>
              <a:rPr lang="en-US" sz="3175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Razorpay / Stripe API documentation for payment integration</a:t>
            </a:r>
          </a:p>
          <a:p>
            <a:pPr algn="l" marL="685633" indent="-342816" lvl="1">
              <a:lnSpc>
                <a:spcPts val="4445"/>
              </a:lnSpc>
              <a:spcBef>
                <a:spcPct val="0"/>
              </a:spcBef>
              <a:buFont typeface="Arial"/>
              <a:buChar char="•"/>
            </a:pPr>
            <a:r>
              <a:rPr lang="en-US" sz="3175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MDN Web Docs for HTML, CSS, and JavaScript</a:t>
            </a:r>
          </a:p>
          <a:p>
            <a:pPr algn="l">
              <a:lnSpc>
                <a:spcPts val="4445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732716">
            <a:off x="15461288" y="-1284835"/>
            <a:ext cx="4440276" cy="4454826"/>
          </a:xfrm>
          <a:custGeom>
            <a:avLst/>
            <a:gdLst/>
            <a:ahLst/>
            <a:cxnLst/>
            <a:rect r="r" b="b" t="t" l="l"/>
            <a:pathLst>
              <a:path h="4454826" w="4440276">
                <a:moveTo>
                  <a:pt x="0" y="0"/>
                </a:moveTo>
                <a:lnTo>
                  <a:pt x="4440276" y="0"/>
                </a:lnTo>
                <a:lnTo>
                  <a:pt x="4440276" y="4454826"/>
                </a:lnTo>
                <a:lnTo>
                  <a:pt x="0" y="4454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46276" y="6844428"/>
            <a:ext cx="2850434" cy="4114800"/>
          </a:xfrm>
          <a:custGeom>
            <a:avLst/>
            <a:gdLst/>
            <a:ahLst/>
            <a:cxnLst/>
            <a:rect r="r" b="b" t="t" l="l"/>
            <a:pathLst>
              <a:path h="4114800" w="2850434">
                <a:moveTo>
                  <a:pt x="0" y="0"/>
                </a:moveTo>
                <a:lnTo>
                  <a:pt x="2850434" y="0"/>
                </a:lnTo>
                <a:lnTo>
                  <a:pt x="2850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31558">
            <a:off x="17335259" y="8354860"/>
            <a:ext cx="2390862" cy="2961653"/>
          </a:xfrm>
          <a:custGeom>
            <a:avLst/>
            <a:gdLst/>
            <a:ahLst/>
            <a:cxnLst/>
            <a:rect r="r" b="b" t="t" l="l"/>
            <a:pathLst>
              <a:path h="2961653" w="2390862">
                <a:moveTo>
                  <a:pt x="0" y="0"/>
                </a:moveTo>
                <a:lnTo>
                  <a:pt x="2390862" y="0"/>
                </a:lnTo>
                <a:lnTo>
                  <a:pt x="2390862" y="2961653"/>
                </a:lnTo>
                <a:lnTo>
                  <a:pt x="0" y="2961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31558">
            <a:off x="-1023786" y="-1596771"/>
            <a:ext cx="2390862" cy="2961653"/>
          </a:xfrm>
          <a:custGeom>
            <a:avLst/>
            <a:gdLst/>
            <a:ahLst/>
            <a:cxnLst/>
            <a:rect r="r" b="b" t="t" l="l"/>
            <a:pathLst>
              <a:path h="2961653" w="2390862">
                <a:moveTo>
                  <a:pt x="0" y="0"/>
                </a:moveTo>
                <a:lnTo>
                  <a:pt x="2390862" y="0"/>
                </a:lnTo>
                <a:lnTo>
                  <a:pt x="2390862" y="2961653"/>
                </a:lnTo>
                <a:lnTo>
                  <a:pt x="0" y="2961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26401">
            <a:off x="9910818" y="9287529"/>
            <a:ext cx="3148660" cy="1998942"/>
          </a:xfrm>
          <a:custGeom>
            <a:avLst/>
            <a:gdLst/>
            <a:ahLst/>
            <a:cxnLst/>
            <a:rect r="r" b="b" t="t" l="l"/>
            <a:pathLst>
              <a:path h="1998942" w="3148660">
                <a:moveTo>
                  <a:pt x="0" y="0"/>
                </a:moveTo>
                <a:lnTo>
                  <a:pt x="3148660" y="0"/>
                </a:lnTo>
                <a:lnTo>
                  <a:pt x="3148660" y="1998942"/>
                </a:lnTo>
                <a:lnTo>
                  <a:pt x="0" y="19989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65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2642" y="1557741"/>
            <a:ext cx="6987981" cy="5049169"/>
            <a:chOff x="0" y="0"/>
            <a:chExt cx="946411" cy="683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6411" cy="683830"/>
            </a:xfrm>
            <a:custGeom>
              <a:avLst/>
              <a:gdLst/>
              <a:ahLst/>
              <a:cxnLst/>
              <a:rect r="r" b="b" t="t" l="l"/>
              <a:pathLst>
                <a:path h="683830" w="946411">
                  <a:moveTo>
                    <a:pt x="38776" y="0"/>
                  </a:moveTo>
                  <a:lnTo>
                    <a:pt x="907635" y="0"/>
                  </a:lnTo>
                  <a:cubicBezTo>
                    <a:pt x="917919" y="0"/>
                    <a:pt x="927782" y="4085"/>
                    <a:pt x="935054" y="11357"/>
                  </a:cubicBezTo>
                  <a:cubicBezTo>
                    <a:pt x="942326" y="18629"/>
                    <a:pt x="946411" y="28492"/>
                    <a:pt x="946411" y="38776"/>
                  </a:cubicBezTo>
                  <a:lnTo>
                    <a:pt x="946411" y="645054"/>
                  </a:lnTo>
                  <a:cubicBezTo>
                    <a:pt x="946411" y="655338"/>
                    <a:pt x="942326" y="665201"/>
                    <a:pt x="935054" y="672473"/>
                  </a:cubicBezTo>
                  <a:cubicBezTo>
                    <a:pt x="927782" y="679745"/>
                    <a:pt x="917919" y="683830"/>
                    <a:pt x="907635" y="683830"/>
                  </a:cubicBezTo>
                  <a:lnTo>
                    <a:pt x="38776" y="683830"/>
                  </a:lnTo>
                  <a:cubicBezTo>
                    <a:pt x="28492" y="683830"/>
                    <a:pt x="18629" y="679745"/>
                    <a:pt x="11357" y="672473"/>
                  </a:cubicBezTo>
                  <a:cubicBezTo>
                    <a:pt x="4085" y="665201"/>
                    <a:pt x="0" y="655338"/>
                    <a:pt x="0" y="645054"/>
                  </a:cubicBezTo>
                  <a:lnTo>
                    <a:pt x="0" y="38776"/>
                  </a:lnTo>
                  <a:cubicBezTo>
                    <a:pt x="0" y="28492"/>
                    <a:pt x="4085" y="18629"/>
                    <a:pt x="11357" y="11357"/>
                  </a:cubicBezTo>
                  <a:cubicBezTo>
                    <a:pt x="18629" y="4085"/>
                    <a:pt x="28492" y="0"/>
                    <a:pt x="38776" y="0"/>
                  </a:cubicBezTo>
                  <a:close/>
                </a:path>
              </a:pathLst>
            </a:custGeom>
            <a:blipFill>
              <a:blip r:embed="rId2"/>
              <a:stretch>
                <a:fillRect l="-4191" t="0" r="-4191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530390" y="6001670"/>
            <a:ext cx="5532484" cy="2727589"/>
            <a:chOff x="0" y="0"/>
            <a:chExt cx="1457151" cy="7184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7151" cy="718414"/>
            </a:xfrm>
            <a:custGeom>
              <a:avLst/>
              <a:gdLst/>
              <a:ahLst/>
              <a:cxnLst/>
              <a:rect r="r" b="b" t="t" l="l"/>
              <a:pathLst>
                <a:path h="718414" w="1457151">
                  <a:moveTo>
                    <a:pt x="1457151" y="48977"/>
                  </a:moveTo>
                  <a:lnTo>
                    <a:pt x="1457151" y="669437"/>
                  </a:lnTo>
                  <a:cubicBezTo>
                    <a:pt x="1457151" y="696486"/>
                    <a:pt x="1435223" y="718414"/>
                    <a:pt x="1408173" y="718414"/>
                  </a:cubicBezTo>
                  <a:lnTo>
                    <a:pt x="48977" y="718414"/>
                  </a:lnTo>
                  <a:cubicBezTo>
                    <a:pt x="35988" y="718414"/>
                    <a:pt x="23530" y="713254"/>
                    <a:pt x="14345" y="704069"/>
                  </a:cubicBezTo>
                  <a:cubicBezTo>
                    <a:pt x="5160" y="694884"/>
                    <a:pt x="0" y="682426"/>
                    <a:pt x="0" y="669437"/>
                  </a:cubicBezTo>
                  <a:lnTo>
                    <a:pt x="0" y="48977"/>
                  </a:lnTo>
                  <a:cubicBezTo>
                    <a:pt x="0" y="35988"/>
                    <a:pt x="5160" y="23530"/>
                    <a:pt x="14345" y="14345"/>
                  </a:cubicBezTo>
                  <a:cubicBezTo>
                    <a:pt x="23530" y="5160"/>
                    <a:pt x="35988" y="0"/>
                    <a:pt x="48977" y="0"/>
                  </a:cubicBezTo>
                  <a:lnTo>
                    <a:pt x="1408173" y="0"/>
                  </a:lnTo>
                  <a:cubicBezTo>
                    <a:pt x="1421163" y="0"/>
                    <a:pt x="1433621" y="5160"/>
                    <a:pt x="1442806" y="14345"/>
                  </a:cubicBezTo>
                  <a:cubicBezTo>
                    <a:pt x="1451991" y="23530"/>
                    <a:pt x="1457151" y="35988"/>
                    <a:pt x="1457151" y="48977"/>
                  </a:cubicBezTo>
                  <a:close/>
                </a:path>
              </a:pathLst>
            </a:custGeom>
            <a:solidFill>
              <a:srgbClr val="F8F7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457151" cy="775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948369" y="6490682"/>
            <a:ext cx="355849" cy="355849"/>
          </a:xfrm>
          <a:custGeom>
            <a:avLst/>
            <a:gdLst/>
            <a:ahLst/>
            <a:cxnLst/>
            <a:rect r="r" b="b" t="t" l="l"/>
            <a:pathLst>
              <a:path h="355849" w="355849">
                <a:moveTo>
                  <a:pt x="0" y="0"/>
                </a:moveTo>
                <a:lnTo>
                  <a:pt x="355849" y="0"/>
                </a:lnTo>
                <a:lnTo>
                  <a:pt x="355849" y="355849"/>
                </a:lnTo>
                <a:lnTo>
                  <a:pt x="0" y="3558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71176" y="-1970354"/>
            <a:ext cx="4824460" cy="5083244"/>
          </a:xfrm>
          <a:custGeom>
            <a:avLst/>
            <a:gdLst/>
            <a:ahLst/>
            <a:cxnLst/>
            <a:rect r="r" b="b" t="t" l="l"/>
            <a:pathLst>
              <a:path h="5083244" w="4824460">
                <a:moveTo>
                  <a:pt x="0" y="0"/>
                </a:moveTo>
                <a:lnTo>
                  <a:pt x="4824460" y="0"/>
                </a:lnTo>
                <a:lnTo>
                  <a:pt x="4824460" y="5083244"/>
                </a:lnTo>
                <a:lnTo>
                  <a:pt x="0" y="50832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231676" y="5495261"/>
            <a:ext cx="1904235" cy="1322578"/>
          </a:xfrm>
          <a:custGeom>
            <a:avLst/>
            <a:gdLst/>
            <a:ahLst/>
            <a:cxnLst/>
            <a:rect r="r" b="b" t="t" l="l"/>
            <a:pathLst>
              <a:path h="1322578" w="1904235">
                <a:moveTo>
                  <a:pt x="0" y="0"/>
                </a:moveTo>
                <a:lnTo>
                  <a:pt x="1904235" y="0"/>
                </a:lnTo>
                <a:lnTo>
                  <a:pt x="1904235" y="1322578"/>
                </a:lnTo>
                <a:lnTo>
                  <a:pt x="0" y="1322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60486" y="7216184"/>
            <a:ext cx="2850434" cy="4114800"/>
          </a:xfrm>
          <a:custGeom>
            <a:avLst/>
            <a:gdLst/>
            <a:ahLst/>
            <a:cxnLst/>
            <a:rect r="r" b="b" t="t" l="l"/>
            <a:pathLst>
              <a:path h="4114800" w="2850434">
                <a:moveTo>
                  <a:pt x="0" y="0"/>
                </a:moveTo>
                <a:lnTo>
                  <a:pt x="2850434" y="0"/>
                </a:lnTo>
                <a:lnTo>
                  <a:pt x="2850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74581">
            <a:off x="-106791" y="-170686"/>
            <a:ext cx="3303234" cy="896477"/>
          </a:xfrm>
          <a:custGeom>
            <a:avLst/>
            <a:gdLst/>
            <a:ahLst/>
            <a:cxnLst/>
            <a:rect r="r" b="b" t="t" l="l"/>
            <a:pathLst>
              <a:path h="896477" w="3303234">
                <a:moveTo>
                  <a:pt x="0" y="0"/>
                </a:moveTo>
                <a:lnTo>
                  <a:pt x="3303234" y="0"/>
                </a:lnTo>
                <a:lnTo>
                  <a:pt x="3303234" y="896476"/>
                </a:lnTo>
                <a:lnTo>
                  <a:pt x="0" y="896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61079">
            <a:off x="14450630" y="9251536"/>
            <a:ext cx="4756811" cy="1965897"/>
          </a:xfrm>
          <a:custGeom>
            <a:avLst/>
            <a:gdLst/>
            <a:ahLst/>
            <a:cxnLst/>
            <a:rect r="r" b="b" t="t" l="l"/>
            <a:pathLst>
              <a:path h="1965897" w="4756811">
                <a:moveTo>
                  <a:pt x="0" y="0"/>
                </a:moveTo>
                <a:lnTo>
                  <a:pt x="4756811" y="0"/>
                </a:lnTo>
                <a:lnTo>
                  <a:pt x="4756811" y="1965897"/>
                </a:lnTo>
                <a:lnTo>
                  <a:pt x="0" y="19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948369" y="7187540"/>
            <a:ext cx="355849" cy="355849"/>
          </a:xfrm>
          <a:custGeom>
            <a:avLst/>
            <a:gdLst/>
            <a:ahLst/>
            <a:cxnLst/>
            <a:rect r="r" b="b" t="t" l="l"/>
            <a:pathLst>
              <a:path h="355849" w="355849">
                <a:moveTo>
                  <a:pt x="0" y="0"/>
                </a:moveTo>
                <a:lnTo>
                  <a:pt x="355849" y="0"/>
                </a:lnTo>
                <a:lnTo>
                  <a:pt x="355849" y="355849"/>
                </a:lnTo>
                <a:lnTo>
                  <a:pt x="0" y="3558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948369" y="7923060"/>
            <a:ext cx="355849" cy="355849"/>
          </a:xfrm>
          <a:custGeom>
            <a:avLst/>
            <a:gdLst/>
            <a:ahLst/>
            <a:cxnLst/>
            <a:rect r="r" b="b" t="t" l="l"/>
            <a:pathLst>
              <a:path h="355849" w="355849">
                <a:moveTo>
                  <a:pt x="0" y="0"/>
                </a:moveTo>
                <a:lnTo>
                  <a:pt x="355849" y="0"/>
                </a:lnTo>
                <a:lnTo>
                  <a:pt x="355849" y="355850"/>
                </a:lnTo>
                <a:lnTo>
                  <a:pt x="0" y="3558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198633" y="3276056"/>
            <a:ext cx="5799699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60"/>
              </a:lnSpc>
            </a:pPr>
            <a:r>
              <a:rPr lang="en-US" b="true" sz="6800">
                <a:solidFill>
                  <a:srgbClr val="F8F7ED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  <a:p>
            <a:pPr algn="just">
              <a:lnSpc>
                <a:spcPts val="8160"/>
              </a:lnSpc>
            </a:pPr>
            <a:r>
              <a:rPr lang="en-US" b="true" sz="6800">
                <a:solidFill>
                  <a:srgbClr val="F8F7ED"/>
                </a:solidFill>
                <a:latin typeface="Agrandir Bold"/>
                <a:ea typeface="Agrandir Bold"/>
                <a:cs typeface="Agrandir Bold"/>
                <a:sym typeface="Agrandir Bold"/>
              </a:rPr>
              <a:t>Very Much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98633" y="2056178"/>
            <a:ext cx="4168443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pc="-47">
                <a:solidFill>
                  <a:srgbClr val="F8F7ED"/>
                </a:solidFill>
                <a:latin typeface="Poppins Bold"/>
                <a:ea typeface="Poppins Bold"/>
                <a:cs typeface="Poppins Bold"/>
                <a:sym typeface="Poppins Bold"/>
              </a:rPr>
              <a:t>Borcelle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98633" y="5485943"/>
            <a:ext cx="6286725" cy="42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b="true" sz="2398" spc="-47">
                <a:solidFill>
                  <a:srgbClr val="F8F7ED"/>
                </a:solidFill>
                <a:latin typeface="Poppins Bold"/>
                <a:ea typeface="Poppins Bold"/>
                <a:cs typeface="Poppins Bold"/>
                <a:sym typeface="Poppins Bold"/>
              </a:rPr>
              <a:t>Do you have any questions?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98633" y="6815676"/>
            <a:ext cx="6286725" cy="126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 spc="-47">
                <a:solidFill>
                  <a:srgbClr val="F8F7ED"/>
                </a:solidFill>
                <a:latin typeface="Poppins"/>
                <a:ea typeface="Poppins"/>
                <a:cs typeface="Poppins"/>
                <a:sym typeface="Poppins"/>
              </a:rPr>
              <a:t>We are excited to discuss how Borcelle can revolutionize your shopping experience and help your business grow.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55693" y="6381499"/>
            <a:ext cx="305535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462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123-456-7890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48636" y="7111387"/>
            <a:ext cx="389926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5B462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reallygreatsite.com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31280" y="7841340"/>
            <a:ext cx="463159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5B462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wardrobe@gmail.com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DAHGWY4pPfI</dc:identifier>
  <dcterms:modified xsi:type="dcterms:W3CDTF">2011-08-01T06:04:30Z</dcterms:modified>
  <cp:revision>1</cp:revision>
  <dc:title>Wardrobe X</dc:title>
</cp:coreProperties>
</file>